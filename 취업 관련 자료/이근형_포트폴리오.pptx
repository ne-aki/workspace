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4" r:id="rId7"/>
    <p:sldId id="269" r:id="rId8"/>
    <p:sldId id="270" r:id="rId9"/>
    <p:sldId id="271" r:id="rId10"/>
    <p:sldId id="261" r:id="rId11"/>
    <p:sldId id="272" r:id="rId12"/>
    <p:sldId id="262" r:id="rId13"/>
    <p:sldId id="266" r:id="rId14"/>
    <p:sldId id="273" r:id="rId15"/>
    <p:sldId id="265" r:id="rId16"/>
    <p:sldId id="274" r:id="rId17"/>
    <p:sldId id="268" r:id="rId18"/>
    <p:sldId id="267" r:id="rId19"/>
    <p:sldId id="26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AF50"/>
    <a:srgbClr val="388E3C"/>
    <a:srgbClr val="2C3E50"/>
    <a:srgbClr val="FFFFFF"/>
    <a:srgbClr val="5D6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16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09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5FAD-C63B-C25C-836D-22CA4515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E6F57-A113-B946-5130-AE97D8651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E2A55-B730-001A-47C6-F6FF927D2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D9A9B-3995-B3F2-9CCE-BAD9DE42A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73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FA526-D396-27AE-8BEB-EE568120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06C33-8604-91C4-41D3-7DA62CE64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09ACA-956B-DD39-BCE1-5A1A999EF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5BCBB-5660-582A-3C99-F7948FEE0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86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0703-64D5-D051-EA9C-D93ED4FB0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8A8BF-CAE6-64D7-4F8B-74BC2A5CA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0B7CE-D8CF-86E4-76E1-1EB6930BD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D000F-6572-21DC-DBF2-85C02F0BA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00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F8F7-2FF8-0F89-7B6B-2A6A7C62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02E5B-7422-4019-1807-2249A5219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F0A27-948D-8BE0-684B-28CDDB062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072DC-2F9A-1216-7E72-3BF97530A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08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9E2D8-BAD9-5E62-203E-09A8867D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A020E-CE2F-BB08-C1D4-C9C329EC8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1998B-852B-0269-BFAB-D46B8FD13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DF15E-046E-56E9-9420-5ADCE4C32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24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2D81-A70C-9E18-E1C5-ACFD2B2E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703CF-1587-FC0D-136A-35C5D6C3B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98001-E9E5-416B-2CD1-6866EB000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DDA47-3741-641F-9ADC-7E1EC36EF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71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geunhyeong930@gmail.com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hyperlink" Target="https://sticky-chill-dd2.notion.site/278342983be38089b8dfda2a76735e91?v=278342983be380988ec7000c29f286df&amp;source=copy_link" TargetMode="External"/><Relationship Id="rId4" Type="http://schemas.openxmlformats.org/officeDocument/2006/relationships/hyperlink" Target="https://github.com/ne-aki/tea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CpzN9cTWgo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icky-chill-dd2.notion.site/11-279342983be3805dba73f80e8ba26a9a?source=copy_lin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sticky-chill-dd2.notion.site/16-280342983be381c1a6a6faefc20b0c3f?source=copy_link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youtu.be/kpr2b_3jrx8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ticky-chill-dd2.notion.site/9-277342983be380b69396dc2a30378c5b?source=copy_lin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G-MDDfSU40" TargetMode="Externa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ticky-chill-dd2.notion.site/17-288342983be381bfaef5fc099e5c6197?source=copy_link" TargetMode="External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4" Type="http://schemas.openxmlformats.org/officeDocument/2006/relationships/hyperlink" Target="https://sticky-chill-dd2.notion.site/18-28d342983be380119aeede978dc4e642?source=copy_link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1448" y="917377"/>
            <a:ext cx="61409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225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01448" y="1355527"/>
            <a:ext cx="614095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940"/>
              </a:lnSpc>
              <a:spcAft>
                <a:spcPts val="1500"/>
              </a:spcAft>
              <a:buNone/>
            </a:pPr>
            <a:r>
              <a:rPr lang="en-US" sz="5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DEVELOPER</a:t>
            </a:r>
            <a:endParaRPr lang="en-US" sz="5400" dirty="0"/>
          </a:p>
          <a:p>
            <a:pPr marL="0" indent="0" algn="ctr">
              <a:lnSpc>
                <a:spcPts val="5940"/>
              </a:lnSpc>
              <a:spcAft>
                <a:spcPts val="1500"/>
              </a:spcAft>
              <a:buNone/>
            </a:pPr>
            <a:r>
              <a:rPr lang="en-US" sz="5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000351" y="3054548"/>
            <a:ext cx="1143000" cy="28575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1448" y="3273623"/>
            <a:ext cx="6140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스마트팜 IoT 웹&amp;앱 개발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1448" y="3921323"/>
            <a:ext cx="61409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이근형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89535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신입 개발자 이근형 입니다.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320800"/>
            <a:ext cx="816102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신입 개발자 </a:t>
            </a:r>
            <a:r>
              <a:rPr lang="ko-KR" altLang="en-US" sz="10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이근형입니다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진득하게 몰입하여 문제를 끝까지 해결하는 개발자입니다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일본어 전공에서 언어의 논리를 배우고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프로그래밍 언어로 그 논리를 구현하며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라는 공통점 속에서 개발의 즐거움을 발견했습니다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학습을 기록하고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팀과 협업하며 성장하는 개발자가 되겠습니다</a:t>
            </a:r>
            <a:r>
              <a:rPr lang="en-US" altLang="ko-KR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2946946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Training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981996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2025.05.28 - 2025.11.20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4210596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지능형 관리시스템 웹&amp;앱 개발자 양성과정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4401096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(Java, Python, React) 수료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336287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2025.02.14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3591471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5D6D7E"/>
                </a:solidFill>
                <a:latin typeface="Arial" pitchFamily="34" charset="0"/>
                <a:cs typeface="Arial" pitchFamily="34" charset="-120"/>
              </a:rPr>
              <a:t>울산대학교 </a:t>
            </a:r>
            <a:r>
              <a:rPr lang="ko-KR" altLang="en-US" sz="1050" dirty="0" err="1">
                <a:solidFill>
                  <a:srgbClr val="5D6D7E"/>
                </a:solidFill>
                <a:latin typeface="Arial" pitchFamily="34" charset="0"/>
                <a:cs typeface="Arial" pitchFamily="34" charset="-120"/>
              </a:rPr>
              <a:t>일본어일본학과</a:t>
            </a:r>
            <a:r>
              <a:rPr lang="ko-KR" altLang="en-US" sz="1050" dirty="0">
                <a:solidFill>
                  <a:srgbClr val="5D6D7E"/>
                </a:solidFill>
                <a:latin typeface="Arial" pitchFamily="34" charset="0"/>
                <a:cs typeface="Arial" pitchFamily="34" charset="-120"/>
              </a:rPr>
              <a:t> 졸업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24400" y="293370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353695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geunhyeong930@gmail.com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3933456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	    </a:t>
            </a:r>
            <a:r>
              <a:rPr lang="ko-KR" alt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클릭해 주세요</a:t>
            </a:r>
            <a:r>
              <a:rPr lang="en-US" altLang="ko-KR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4521348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Notion:	    </a:t>
            </a:r>
            <a:r>
              <a:rPr lang="ko-KR" alt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클릭해 주세요</a:t>
            </a:r>
            <a:r>
              <a:rPr lang="en-US" altLang="ko-KR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.</a:t>
            </a:r>
            <a:endParaRPr lang="en-US" sz="10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1635EBB0-7CF0-485E-B316-3C128B93BE47}"/>
              </a:ext>
            </a:extLst>
          </p:cNvPr>
          <p:cNvSpPr/>
          <p:nvPr/>
        </p:nvSpPr>
        <p:spPr>
          <a:xfrm>
            <a:off x="4724400" y="328930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010-4792-3663</a:t>
            </a:r>
            <a:endParaRPr lang="en-US" sz="105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C8A8DC6-5E1F-5D10-B6FA-D34B71B5C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158" y="276641"/>
            <a:ext cx="1874520" cy="24993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  <p:pic>
        <p:nvPicPr>
          <p:cNvPr id="15" name="그림 14">
            <a:hlinkClick r:id="rId5"/>
            <a:extLst>
              <a:ext uri="{FF2B5EF4-FFF2-40B4-BE49-F238E27FC236}">
                <a16:creationId xmlns:a16="http://schemas.microsoft.com/office/drawing/2014/main" id="{DE6B8CEF-4F73-D932-1AD3-E223DA425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0950" y="4401096"/>
            <a:ext cx="435419" cy="435419"/>
          </a:xfrm>
          <a:prstGeom prst="rect">
            <a:avLst/>
          </a:prstGeom>
        </p:spPr>
      </p:pic>
      <p:pic>
        <p:nvPicPr>
          <p:cNvPr id="16" name="그림 15">
            <a:hlinkClick r:id="rId4"/>
            <a:extLst>
              <a:ext uri="{FF2B5EF4-FFF2-40B4-BE49-F238E27FC236}">
                <a16:creationId xmlns:a16="http://schemas.microsoft.com/office/drawing/2014/main" id="{486F35BF-335A-58F5-9A84-C5147881C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0950" y="3816444"/>
            <a:ext cx="435419" cy="424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112639"/>
            <a:ext cx="3848100" cy="1782961"/>
          </a:xfrm>
          <a:prstGeom prst="roundRect">
            <a:avLst>
              <a:gd name="adj" fmla="val 75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" y="1205841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24400" y="1112639"/>
            <a:ext cx="3848100" cy="1782961"/>
          </a:xfrm>
          <a:prstGeom prst="roundRect">
            <a:avLst>
              <a:gd name="adj" fmla="val 64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800" y="126503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3047999"/>
            <a:ext cx="3848100" cy="1782961"/>
          </a:xfrm>
          <a:prstGeom prst="roundRect">
            <a:avLst>
              <a:gd name="adj" fmla="val 92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" y="319544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24400" y="3048000"/>
            <a:ext cx="3848100" cy="1782961"/>
          </a:xfrm>
          <a:prstGeom prst="roundRect">
            <a:avLst>
              <a:gd name="adj" fmla="val 64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6800" y="320040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endParaRPr lang="en-US" sz="15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9089F1D-987A-4DFA-9C84-7F7A4A675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97" y="1638749"/>
            <a:ext cx="1071561" cy="107156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502679D-C0F7-41E5-A69E-2A7018953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328" y="1565742"/>
            <a:ext cx="1405122" cy="121777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8A75378-2C7C-4DB1-B4FD-16B0F1293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633" y="1865236"/>
            <a:ext cx="893145" cy="89314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FBAC183-A8D5-4E06-A927-4C01563B5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770" y="1801735"/>
            <a:ext cx="893145" cy="89314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BCE0F59-5C61-4BBD-8B0C-3A5D452E1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4567" y="1803809"/>
            <a:ext cx="893145" cy="89314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64F89C8-5ACC-4DF0-AAD3-5551A87A97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6285" y="1817165"/>
            <a:ext cx="893145" cy="89314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C081BDA-C71C-4858-85C7-620D012D5C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8928" y="3441700"/>
            <a:ext cx="1320800" cy="13208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1F606DF-0B3D-4CF0-90FF-52E0504358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0897" y="3695364"/>
            <a:ext cx="899588" cy="87050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CD6CA53-C60F-4636-9A76-E6E8B31FC3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0008" y="3760013"/>
            <a:ext cx="760228" cy="741202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779C79B-DF9F-4EBF-B7C7-7ADCB92DE3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9909" y="3664311"/>
            <a:ext cx="969438" cy="969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9315" y="1357313"/>
            <a:ext cx="4405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3000"/>
              </a:spcAft>
              <a:buNone/>
            </a:pPr>
            <a:r>
              <a:rPr lang="en-US" sz="7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000351" y="2652713"/>
            <a:ext cx="1143000" cy="38100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69315" y="3071813"/>
            <a:ext cx="44052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스마트팜/축사 웹&amp;앱 개발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69315" y="3519488"/>
            <a:ext cx="4405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125"/>
              </a:spcBef>
              <a:buNone/>
            </a:pPr>
            <a:r>
              <a:rPr lang="en-US" sz="13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API, React 기반 IoT 통합 관리 시스템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71500" y="1653629"/>
            <a:ext cx="8001000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1296442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667917"/>
            <a:ext cx="816102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React Native, Spring Boot를 활용한 IoT 기반 축사 환경 관리 앱과 쇼핑몰 웹사이트 개발 팀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프로젝트입니다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데이터 수집과 시각화, 사용자 인증, 권한 관리 등 다양한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기능을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구현하며</a:t>
            </a:r>
            <a:endParaRPr lang="en-US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프론트엔드와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백엔드 개발 경험을 쌓았습니다.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1500" y="2927896"/>
            <a:ext cx="8001000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2570708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진행 기간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3056483"/>
            <a:ext cx="8001000" cy="457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3056483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| 2024.09.11 ~ 2024.09.24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3323183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+ Python 기반 스마트축사 IoT 기기 개발, 센서 데이터 수집 및 자동제어 알고리즘 구현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608933"/>
            <a:ext cx="8001000" cy="457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3608933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| 2024.09.25 ~ 2024.10.16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" y="3875633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기반 스마트축사 IoT 기기 연동, 가축 구매/판매몰 웹사이트 구축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4161383"/>
            <a:ext cx="8001000" cy="457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4161383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 | 2024.10.17 ~ 2024.11.14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" y="4428083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 기반 IoT 연동 Application 개발, 모바일 환경에서 실시간 센서 데이터 조회 기능 구현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3A4E90F4-CA74-4C90-9CF3-BEFB795E72EB}"/>
              </a:ext>
            </a:extLst>
          </p:cNvPr>
          <p:cNvSpPr/>
          <p:nvPr/>
        </p:nvSpPr>
        <p:spPr>
          <a:xfrm>
            <a:off x="571499" y="295275"/>
            <a:ext cx="61129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 </a:t>
            </a:r>
            <a:r>
              <a:rPr lang="en-US" altLang="ko-KR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– </a:t>
            </a: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주문 모듈</a:t>
            </a:r>
            <a:endParaRPr lang="en-US" sz="27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67C8256-1E7D-86B0-C6BE-17F2FE21CE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48"/>
          <a:stretch/>
        </p:blipFill>
        <p:spPr>
          <a:xfrm>
            <a:off x="370050" y="814122"/>
            <a:ext cx="8403900" cy="42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A3B7A-9452-EBE6-BB2E-7FC071B5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5AAFED79-4AB6-4593-3F7B-0FDCC8ADDFB4}"/>
              </a:ext>
            </a:extLst>
          </p:cNvPr>
          <p:cNvSpPr/>
          <p:nvPr/>
        </p:nvSpPr>
        <p:spPr>
          <a:xfrm>
            <a:off x="571499" y="295275"/>
            <a:ext cx="65414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 </a:t>
            </a:r>
            <a:r>
              <a:rPr lang="en-US" altLang="ko-KR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– </a:t>
            </a: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모듈 및 </a:t>
            </a:r>
            <a:r>
              <a:rPr lang="ko-KR" altLang="en-US" sz="27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찜하기</a:t>
            </a:r>
            <a:endParaRPr lang="en-US" sz="27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80D8C1-55A7-7BE5-8C33-4CBB03D2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09" y="743733"/>
            <a:ext cx="7790181" cy="436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102CE-7DB0-87B2-2BCB-5D320430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1E0E591C-D3EE-23C3-0F98-CAFD2B46382A}"/>
              </a:ext>
            </a:extLst>
          </p:cNvPr>
          <p:cNvSpPr/>
          <p:nvPr/>
        </p:nvSpPr>
        <p:spPr>
          <a:xfrm>
            <a:off x="571499" y="295275"/>
            <a:ext cx="65414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 </a:t>
            </a:r>
            <a:r>
              <a:rPr lang="en-US" altLang="ko-KR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– Q&amp;A</a:t>
            </a: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및 평점 모듈</a:t>
            </a:r>
            <a:endParaRPr lang="en-US" sz="27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C1B26CE-9122-CDE0-1DBB-72F2FC9768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22"/>
          <a:stretch/>
        </p:blipFill>
        <p:spPr>
          <a:xfrm>
            <a:off x="410074" y="813604"/>
            <a:ext cx="8323851" cy="42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9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E4302-08C0-B887-03D5-65996607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CA9801BA-6569-AC24-CD54-55D0B22F298C}"/>
              </a:ext>
            </a:extLst>
          </p:cNvPr>
          <p:cNvSpPr/>
          <p:nvPr/>
        </p:nvSpPr>
        <p:spPr>
          <a:xfrm>
            <a:off x="571498" y="295275"/>
            <a:ext cx="70573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 </a:t>
            </a:r>
            <a:r>
              <a:rPr lang="en-US" altLang="ko-KR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– IoT </a:t>
            </a:r>
            <a:r>
              <a:rPr lang="ko-KR" alt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센서 측정 모듈</a:t>
            </a:r>
            <a:endParaRPr lang="en-US" sz="27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328887-C19A-4698-A673-D08DA96511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62" t="22532" r="12961" b="25064"/>
          <a:stretch>
            <a:fillRect/>
          </a:stretch>
        </p:blipFill>
        <p:spPr>
          <a:xfrm>
            <a:off x="1301261" y="1197644"/>
            <a:ext cx="6541478" cy="332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8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3337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역할 및 기여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300163"/>
            <a:ext cx="8001000" cy="56418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300163"/>
            <a:ext cx="0" cy="564188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1441210"/>
            <a:ext cx="1554480" cy="28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코드 리팩토링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76500" y="1441210"/>
            <a:ext cx="6023610" cy="23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신상품 페이지 중복 로직을 컴포넌트화하여 32줄 코드 제거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7104" y="2963524"/>
            <a:ext cx="8001000" cy="56418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6154" y="2963524"/>
            <a:ext cx="0" cy="564188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795704" y="3104571"/>
            <a:ext cx="1554480" cy="28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데이터 전달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72104" y="3104571"/>
            <a:ext cx="6023610" cy="23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useOutletContext 적용하여 상세 페이지 데이터 안정적 전달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1846096"/>
            <a:ext cx="8001000" cy="56418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1846096"/>
            <a:ext cx="0" cy="564188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1987143"/>
            <a:ext cx="1554480" cy="28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구현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76500" y="2018891"/>
            <a:ext cx="6023610" cy="23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상품 목록의 가독성과 UI 개선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7104" y="4102936"/>
            <a:ext cx="8001000" cy="56418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6154" y="4102936"/>
            <a:ext cx="0" cy="564188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704" y="4243983"/>
            <a:ext cx="1554480" cy="28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차트 구성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72104" y="4243983"/>
            <a:ext cx="6023610" cy="23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 선택 기능(1~4주) 및 Chart.js 기반 최고/평균/최저 데이터 시각화</a:t>
            </a:r>
            <a:endParaRPr lang="en-US" sz="10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5DA2ADC-6198-DC9F-E12B-352AED8BB116}"/>
              </a:ext>
            </a:extLst>
          </p:cNvPr>
          <p:cNvSpPr/>
          <p:nvPr/>
        </p:nvSpPr>
        <p:spPr>
          <a:xfrm>
            <a:off x="567104" y="942664"/>
            <a:ext cx="1554480" cy="2820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6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목록 페이지</a:t>
            </a:r>
            <a:endParaRPr lang="en-US" sz="16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D7DDCCC-4F00-474A-FEFA-13517838BA8B}"/>
              </a:ext>
            </a:extLst>
          </p:cNvPr>
          <p:cNvCxnSpPr>
            <a:cxnSpLocks/>
          </p:cNvCxnSpPr>
          <p:nvPr/>
        </p:nvCxnSpPr>
        <p:spPr>
          <a:xfrm>
            <a:off x="562708" y="896814"/>
            <a:ext cx="179187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 3">
            <a:extLst>
              <a:ext uri="{FF2B5EF4-FFF2-40B4-BE49-F238E27FC236}">
                <a16:creationId xmlns:a16="http://schemas.microsoft.com/office/drawing/2014/main" id="{CD79FD22-287A-CCEA-DF36-9AD63727A5D7}"/>
              </a:ext>
            </a:extLst>
          </p:cNvPr>
          <p:cNvSpPr/>
          <p:nvPr/>
        </p:nvSpPr>
        <p:spPr>
          <a:xfrm>
            <a:off x="567104" y="2596138"/>
            <a:ext cx="1554480" cy="2820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6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상세 페이지</a:t>
            </a:r>
            <a:endParaRPr lang="en-US" sz="160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9D698B8-C583-BB1D-7807-63F41B9746BA}"/>
              </a:ext>
            </a:extLst>
          </p:cNvPr>
          <p:cNvCxnSpPr>
            <a:cxnSpLocks/>
          </p:cNvCxnSpPr>
          <p:nvPr/>
        </p:nvCxnSpPr>
        <p:spPr>
          <a:xfrm>
            <a:off x="562708" y="2550288"/>
            <a:ext cx="179187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 3">
            <a:extLst>
              <a:ext uri="{FF2B5EF4-FFF2-40B4-BE49-F238E27FC236}">
                <a16:creationId xmlns:a16="http://schemas.microsoft.com/office/drawing/2014/main" id="{B24F15BD-14FF-33B8-049B-E3686067E968}"/>
              </a:ext>
            </a:extLst>
          </p:cNvPr>
          <p:cNvSpPr/>
          <p:nvPr/>
        </p:nvSpPr>
        <p:spPr>
          <a:xfrm>
            <a:off x="567103" y="3714609"/>
            <a:ext cx="1905001" cy="2820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6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관리자 차트 페이지</a:t>
            </a:r>
            <a:endParaRPr lang="en-US" sz="160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6465E39-E741-1A1D-4B4A-65EDBB334B1B}"/>
              </a:ext>
            </a:extLst>
          </p:cNvPr>
          <p:cNvCxnSpPr>
            <a:cxnSpLocks/>
          </p:cNvCxnSpPr>
          <p:nvPr/>
        </p:nvCxnSpPr>
        <p:spPr>
          <a:xfrm>
            <a:off x="562708" y="3668759"/>
            <a:ext cx="179187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B3F-B698-BC69-971A-F822C56B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CE11756-A920-F0C3-9C77-BA83D584E24F}"/>
              </a:ext>
            </a:extLst>
          </p:cNvPr>
          <p:cNvSpPr/>
          <p:nvPr/>
        </p:nvSpPr>
        <p:spPr>
          <a:xfrm>
            <a:off x="120401" y="1333924"/>
            <a:ext cx="4546193" cy="1301172"/>
          </a:xfrm>
          <a:prstGeom prst="roundRect">
            <a:avLst>
              <a:gd name="adj" fmla="val 25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CE8806-B0C9-704A-2735-BD4069AEC8A5}"/>
              </a:ext>
            </a:extLst>
          </p:cNvPr>
          <p:cNvSpPr/>
          <p:nvPr/>
        </p:nvSpPr>
        <p:spPr>
          <a:xfrm>
            <a:off x="139451" y="1333924"/>
            <a:ext cx="0" cy="130117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C5B1B2-E8F0-8A1D-6B5F-DE4D43575D7C}"/>
              </a:ext>
            </a:extLst>
          </p:cNvPr>
          <p:cNvSpPr/>
          <p:nvPr/>
        </p:nvSpPr>
        <p:spPr>
          <a:xfrm>
            <a:off x="158502" y="1333924"/>
            <a:ext cx="446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📃</a:t>
            </a: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설명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539D65-91D3-6B60-38A7-E2A951F07404}"/>
              </a:ext>
            </a:extLst>
          </p:cNvPr>
          <p:cNvSpPr/>
          <p:nvPr/>
        </p:nvSpPr>
        <p:spPr>
          <a:xfrm>
            <a:off x="207206" y="1619674"/>
            <a:ext cx="4459388" cy="799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화면에서 신상품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인기상품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할인상품이 조회됨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상위 탭을 누르거나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아래 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‘</a:t>
            </a:r>
            <a:r>
              <a:rPr lang="ko-KR" altLang="en-US" sz="900" dirty="0" err="1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더보기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’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버튼을 누르면 해당 상품 목록 페이지로 이동됨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D134F59C-A7E5-EA63-C954-2D4CA1595D07}"/>
              </a:ext>
            </a:extLst>
          </p:cNvPr>
          <p:cNvSpPr/>
          <p:nvPr/>
        </p:nvSpPr>
        <p:spPr>
          <a:xfrm>
            <a:off x="120401" y="2885971"/>
            <a:ext cx="4546193" cy="667224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9381A624-4463-B432-5169-F1355B7E2623}"/>
              </a:ext>
            </a:extLst>
          </p:cNvPr>
          <p:cNvSpPr/>
          <p:nvPr/>
        </p:nvSpPr>
        <p:spPr>
          <a:xfrm>
            <a:off x="139451" y="2885971"/>
            <a:ext cx="0" cy="667224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31ACFF29-45C3-EA6C-CAA6-24ABA13240BB}"/>
              </a:ext>
            </a:extLst>
          </p:cNvPr>
          <p:cNvSpPr/>
          <p:nvPr/>
        </p:nvSpPr>
        <p:spPr>
          <a:xfrm>
            <a:off x="158501" y="2885971"/>
            <a:ext cx="446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69F1AC28-C81B-00FB-B2F1-1DC64FABF04E}"/>
              </a:ext>
            </a:extLst>
          </p:cNvPr>
          <p:cNvSpPr/>
          <p:nvPr/>
        </p:nvSpPr>
        <p:spPr>
          <a:xfrm>
            <a:off x="164853" y="3239285"/>
            <a:ext cx="44612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https://youtu.be/TCpzN9cTWgo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29DC413-E79D-5665-DB85-DB9CAB848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52" y="2921648"/>
            <a:ext cx="210467" cy="148531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EA0D785B-9A52-A1F7-1F57-DDCB46CDB1CB}"/>
              </a:ext>
            </a:extLst>
          </p:cNvPr>
          <p:cNvSpPr/>
          <p:nvPr/>
        </p:nvSpPr>
        <p:spPr>
          <a:xfrm>
            <a:off x="331511" y="245094"/>
            <a:ext cx="2988253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목록 페이지</a:t>
            </a:r>
            <a:endParaRPr lang="en-US" sz="28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63A709F-089C-0A03-C6FD-05D21AE84A3B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D99925-B270-9590-562D-6E169FD4ACD7}"/>
              </a:ext>
            </a:extLst>
          </p:cNvPr>
          <p:cNvGrpSpPr/>
          <p:nvPr/>
        </p:nvGrpSpPr>
        <p:grpSpPr>
          <a:xfrm>
            <a:off x="4805417" y="625507"/>
            <a:ext cx="4131377" cy="3706485"/>
            <a:chOff x="4789250" y="837215"/>
            <a:chExt cx="4131377" cy="370648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B35EE0C-F5E6-D9F9-AB09-DBF85613EB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420" t="31223" r="10059"/>
            <a:stretch/>
          </p:blipFill>
          <p:spPr>
            <a:xfrm>
              <a:off x="4789250" y="1631354"/>
              <a:ext cx="4086149" cy="1926347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AC82AC2-8284-643A-8DAC-5C86A16CA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9250" y="1837472"/>
              <a:ext cx="4131377" cy="270622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3825797-2DD4-2939-4EDB-22A760474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0648" y="837215"/>
              <a:ext cx="4001556" cy="809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348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882353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</a:t>
            </a:r>
            <a:r>
              <a:rPr lang="en-US" sz="18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</a:t>
            </a: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리팩토링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5300" y="1196678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목록 컴포넌트 분리로 유지보수성 향상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6250" y="1487073"/>
            <a:ext cx="4893563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487073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487073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4350" y="1772823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Home과 신상품 페이지의 상품 목록 조회 로직 중복. 공통 컴포넌트 분리로 유지보수성 개선</a:t>
            </a:r>
            <a:endParaRPr lang="en-US" sz="900" dirty="0">
              <a:solidFill>
                <a:srgbClr val="2C3E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6250" y="1997554"/>
            <a:ext cx="4893563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1997554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1997554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구현 내용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4350" y="2283304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로직을 별도 컴포넌트로 분리, props로 데이터 전달, 중복 코드 32줄 제거</a:t>
            </a:r>
            <a:endParaRPr lang="en-US" sz="900" dirty="0">
              <a:solidFill>
                <a:srgbClr val="2C3E5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250" y="2508034"/>
            <a:ext cx="4893563" cy="1265436"/>
          </a:xfrm>
          <a:prstGeom prst="roundRect">
            <a:avLst>
              <a:gd name="adj" fmla="val 75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5300" y="2508034"/>
            <a:ext cx="0" cy="12654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2508034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문제 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" y="2793784"/>
            <a:ext cx="474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" y="3189965"/>
            <a:ext cx="474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3370940"/>
            <a:ext cx="5003800" cy="162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altLang="ko-KR" sz="9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useLocation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현재 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확인하고 </a:t>
            </a:r>
            <a:r>
              <a:rPr lang="ko-KR" altLang="en-US" sz="9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삼항연산자로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 페이지는</a:t>
            </a:r>
            <a:endParaRPr lang="en-US" altLang="ko-KR" sz="900" dirty="0">
              <a:solidFill>
                <a:srgbClr val="5D6D7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170"/>
              </a:lnSpc>
              <a:buNone/>
            </a:pP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표시하도록 분기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250" y="3830620"/>
            <a:ext cx="4893563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5300" y="3830620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3830620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결과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" y="4116370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가독성 향상, 수정 시간 단축, 컴포넌트 재사용 이해 증진</a:t>
            </a:r>
            <a:endParaRPr lang="en-US" sz="9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3C9534CE-549C-4B79-BDBC-3852E44F1E94}"/>
              </a:ext>
            </a:extLst>
          </p:cNvPr>
          <p:cNvSpPr/>
          <p:nvPr/>
        </p:nvSpPr>
        <p:spPr>
          <a:xfrm>
            <a:off x="476250" y="4358911"/>
            <a:ext cx="4893563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7E8005E8-5647-4E48-B3B2-E3FDD8FC5D31}"/>
              </a:ext>
            </a:extLst>
          </p:cNvPr>
          <p:cNvSpPr/>
          <p:nvPr/>
        </p:nvSpPr>
        <p:spPr>
          <a:xfrm>
            <a:off x="495300" y="4358911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4E53CB69-F138-4FBE-A261-46CA4E583645}"/>
              </a:ext>
            </a:extLst>
          </p:cNvPr>
          <p:cNvSpPr/>
          <p:nvPr/>
        </p:nvSpPr>
        <p:spPr>
          <a:xfrm>
            <a:off x="514350" y="4358911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DA5E5DA6-13C3-4460-95C2-2E77CA7784DF}"/>
              </a:ext>
            </a:extLst>
          </p:cNvPr>
          <p:cNvSpPr/>
          <p:nvPr/>
        </p:nvSpPr>
        <p:spPr>
          <a:xfrm>
            <a:off x="520701" y="4644661"/>
            <a:ext cx="489356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https://sticky-chill-dd2.notion.site/11-279342983be3805dba73f80e8ba26a9a?source=copy_link</a:t>
            </a:r>
            <a:endParaRPr lang="en-US" sz="9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6A619A9-5D68-44BC-A764-DA0A0756B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1" y="4393638"/>
            <a:ext cx="189642" cy="189642"/>
          </a:xfrm>
          <a:prstGeom prst="rect">
            <a:avLst/>
          </a:prstGeom>
        </p:spPr>
      </p:pic>
      <p:sp>
        <p:nvSpPr>
          <p:cNvPr id="41" name="Text 25">
            <a:extLst>
              <a:ext uri="{FF2B5EF4-FFF2-40B4-BE49-F238E27FC236}">
                <a16:creationId xmlns:a16="http://schemas.microsoft.com/office/drawing/2014/main" id="{5D925F95-B7B3-4D03-9CEA-38CE182B63F9}"/>
              </a:ext>
            </a:extLst>
          </p:cNvPr>
          <p:cNvSpPr/>
          <p:nvPr/>
        </p:nvSpPr>
        <p:spPr>
          <a:xfrm>
            <a:off x="5354095" y="419100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코드</a:t>
            </a:r>
            <a:endParaRPr lang="en-US" sz="9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30F8BEE6-DF62-4639-98C2-3E98FD61C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9900" y="571500"/>
            <a:ext cx="3504910" cy="2492773"/>
          </a:xfrm>
          <a:prstGeom prst="rect">
            <a:avLst/>
          </a:prstGeom>
        </p:spPr>
      </p:pic>
      <p:sp>
        <p:nvSpPr>
          <p:cNvPr id="46" name="Text 22">
            <a:extLst>
              <a:ext uri="{FF2B5EF4-FFF2-40B4-BE49-F238E27FC236}">
                <a16:creationId xmlns:a16="http://schemas.microsoft.com/office/drawing/2014/main" id="{8DE350B0-33E7-4A0E-AD81-7FED203D886A}"/>
              </a:ext>
            </a:extLst>
          </p:cNvPr>
          <p:cNvSpPr/>
          <p:nvPr/>
        </p:nvSpPr>
        <p:spPr>
          <a:xfrm>
            <a:off x="5537199" y="3113931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화면 구현</a:t>
            </a:r>
            <a:endParaRPr lang="en-US" sz="90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26D44FF-F679-49C2-AB23-638945023B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20" t="31223" r="10059"/>
          <a:stretch/>
        </p:blipFill>
        <p:spPr>
          <a:xfrm>
            <a:off x="5518150" y="3304339"/>
            <a:ext cx="3599581" cy="1526070"/>
          </a:xfrm>
          <a:prstGeom prst="rect">
            <a:avLst/>
          </a:prstGeom>
        </p:spPr>
      </p:pic>
      <p:sp>
        <p:nvSpPr>
          <p:cNvPr id="48" name="Text 16">
            <a:extLst>
              <a:ext uri="{FF2B5EF4-FFF2-40B4-BE49-F238E27FC236}">
                <a16:creationId xmlns:a16="http://schemas.microsoft.com/office/drawing/2014/main" id="{9B9B085B-2BFA-44D4-ACDC-37CBDAB6F5E3}"/>
              </a:ext>
            </a:extLst>
          </p:cNvPr>
          <p:cNvSpPr/>
          <p:nvPr/>
        </p:nvSpPr>
        <p:spPr>
          <a:xfrm>
            <a:off x="514350" y="2984285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신상품 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9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NewProductList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전체 표시 필요</a:t>
            </a:r>
            <a:endParaRPr lang="en-US" sz="9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73D3205A-56C6-9148-C0FC-4267187EE807}"/>
              </a:ext>
            </a:extLst>
          </p:cNvPr>
          <p:cNvSpPr/>
          <p:nvPr/>
        </p:nvSpPr>
        <p:spPr>
          <a:xfrm>
            <a:off x="331511" y="245094"/>
            <a:ext cx="2988253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목록 페이지</a:t>
            </a:r>
            <a:endParaRPr lang="en-US" sz="2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5594955-519E-A66B-02C6-282A5EF163DE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478" y="870289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구현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2478" y="1213189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목록 페이지 가독성 및 UI 개선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299" y="1451471"/>
            <a:ext cx="5011967" cy="582811"/>
          </a:xfrm>
          <a:prstGeom prst="roundRect">
            <a:avLst>
              <a:gd name="adj" fmla="val 130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3350" y="1451471"/>
            <a:ext cx="0" cy="582811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" y="1451471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" y="1737221"/>
            <a:ext cx="495980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페이지에 50개 이상 데이터 조회로 가독성 저하. Pagination으로 페이지당 8개 표시하여 UI 개선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299" y="2110482"/>
            <a:ext cx="5011967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33350" y="2110482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400" y="2110482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구현 내용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2400" y="2396232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react-js-pagination 라이브러리 활용, 페이지당 8개 항목, useState로 상태 관리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299" y="2620963"/>
            <a:ext cx="5011966" cy="1011436"/>
          </a:xfrm>
          <a:prstGeom prst="roundRect">
            <a:avLst>
              <a:gd name="adj" fmla="val 75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33350" y="2620963"/>
            <a:ext cx="0" cy="10114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" y="2620963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문제 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400" y="2906713"/>
            <a:ext cx="474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2400" y="3097213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totalItems에 현재 페이지 데이터만 전달하여 페이지 수 계산 오류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400" y="3302893"/>
            <a:ext cx="474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2400" y="3483868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배열 </a:t>
            </a:r>
            <a:r>
              <a:rPr lang="en-US" sz="9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length를</a:t>
            </a: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totalItems로</a:t>
            </a: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9" y="3708598"/>
            <a:ext cx="5011967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33350" y="3708598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400" y="3708598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결과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2400" y="3994348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가독성 향상, 페이지 이동 편의성 개선, 상태 관리 이해 증진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560" y="138536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화면 구현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34502" y="2095566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코드</a:t>
            </a:r>
            <a:endParaRPr lang="en-US" sz="9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FB4D9F8B-7202-4BE0-A413-74B77B1CB7FD}"/>
              </a:ext>
            </a:extLst>
          </p:cNvPr>
          <p:cNvSpPr/>
          <p:nvPr/>
        </p:nvSpPr>
        <p:spPr>
          <a:xfrm>
            <a:off x="114298" y="4213424"/>
            <a:ext cx="5011967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AF49EE82-5E3F-4757-AA4A-ECCD213200C7}"/>
              </a:ext>
            </a:extLst>
          </p:cNvPr>
          <p:cNvSpPr/>
          <p:nvPr/>
        </p:nvSpPr>
        <p:spPr>
          <a:xfrm>
            <a:off x="133350" y="4213424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3016521C-13A2-4099-9A7E-926BB1B6D9D9}"/>
              </a:ext>
            </a:extLst>
          </p:cNvPr>
          <p:cNvSpPr/>
          <p:nvPr/>
        </p:nvSpPr>
        <p:spPr>
          <a:xfrm>
            <a:off x="152400" y="4226124"/>
            <a:ext cx="3936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E5281885-54AD-44B7-A6B9-642ED3B73B8C}"/>
              </a:ext>
            </a:extLst>
          </p:cNvPr>
          <p:cNvSpPr/>
          <p:nvPr/>
        </p:nvSpPr>
        <p:spPr>
          <a:xfrm>
            <a:off x="158751" y="4494608"/>
            <a:ext cx="4825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https://sticky-chill-dd2.notion.site/16-280342983be381c1a6a6faefc20b0c3f?source=copy_link</a:t>
            </a:r>
            <a:endParaRPr lang="en-US" sz="9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1BE3B1E-25BE-4D61-B0F8-D08AD297A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1" y="4248151"/>
            <a:ext cx="189642" cy="18964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47292B2-5EE3-4A93-B25B-A8E5815C1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9" y="310107"/>
            <a:ext cx="2823027" cy="1662979"/>
          </a:xfrm>
          <a:prstGeom prst="rect">
            <a:avLst/>
          </a:prstGeom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7292A04-CAAD-4929-BD27-C6D665B72555}"/>
              </a:ext>
            </a:extLst>
          </p:cNvPr>
          <p:cNvSpPr/>
          <p:nvPr/>
        </p:nvSpPr>
        <p:spPr>
          <a:xfrm>
            <a:off x="6642894" y="1731963"/>
            <a:ext cx="631766" cy="260350"/>
          </a:xfrm>
          <a:prstGeom prst="roundRect">
            <a:avLst>
              <a:gd name="adj" fmla="val 9723"/>
            </a:avLst>
          </a:prstGeom>
          <a:noFill/>
          <a:ln w="9525">
            <a:solidFill>
              <a:srgbClr val="388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C30DF79-AF21-418F-84EB-DD99C6C69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405" y="341097"/>
            <a:ext cx="1639389" cy="1011436"/>
          </a:xfrm>
          <a:prstGeom prst="rect">
            <a:avLst/>
          </a:prstGeom>
          <a:ln w="12700">
            <a:solidFill>
              <a:srgbClr val="388E3C"/>
            </a:solidFill>
          </a:ln>
        </p:spPr>
      </p:pic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5B1C8143-54E4-473D-AE7B-8D889DBF732B}"/>
              </a:ext>
            </a:extLst>
          </p:cNvPr>
          <p:cNvCxnSpPr>
            <a:cxnSpLocks/>
            <a:stCxn id="39" idx="1"/>
            <a:endCxn id="46" idx="3"/>
          </p:cNvCxnSpPr>
          <p:nvPr/>
        </p:nvCxnSpPr>
        <p:spPr>
          <a:xfrm rot="10800000">
            <a:off x="5157794" y="846816"/>
            <a:ext cx="1485100" cy="1015323"/>
          </a:xfrm>
          <a:prstGeom prst="bentConnector3">
            <a:avLst>
              <a:gd name="adj1" fmla="val 50000"/>
            </a:avLst>
          </a:prstGeom>
          <a:ln w="12700">
            <a:solidFill>
              <a:srgbClr val="388E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3E136CC-73CA-480F-99A2-073E35105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6204" y="2486019"/>
            <a:ext cx="2653379" cy="265891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BC08A06A-E6A2-42F2-B459-8B0AA4C7E3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3012" y="2031230"/>
            <a:ext cx="2045706" cy="1027063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CFE22DD3-D153-75CE-E0C9-593565EAEABB}"/>
              </a:ext>
            </a:extLst>
          </p:cNvPr>
          <p:cNvSpPr/>
          <p:nvPr/>
        </p:nvSpPr>
        <p:spPr>
          <a:xfrm>
            <a:off x="331511" y="245094"/>
            <a:ext cx="2988253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목록 페이지</a:t>
            </a:r>
            <a:endParaRPr lang="en-US" sz="2800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3A70AAB-F97A-18A8-11DC-2F9D4E0267CE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B48F-4F6B-1140-6304-60745CAC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836F00F-D125-7FC6-8E3C-F741C5A1E03C}"/>
              </a:ext>
            </a:extLst>
          </p:cNvPr>
          <p:cNvSpPr/>
          <p:nvPr/>
        </p:nvSpPr>
        <p:spPr>
          <a:xfrm>
            <a:off x="70854" y="892492"/>
            <a:ext cx="4546193" cy="1301172"/>
          </a:xfrm>
          <a:prstGeom prst="roundRect">
            <a:avLst>
              <a:gd name="adj" fmla="val 49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2015D5D-B7A7-A8B9-EBE7-1D6AF287FA0C}"/>
              </a:ext>
            </a:extLst>
          </p:cNvPr>
          <p:cNvSpPr/>
          <p:nvPr/>
        </p:nvSpPr>
        <p:spPr>
          <a:xfrm>
            <a:off x="89904" y="892492"/>
            <a:ext cx="0" cy="130117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3FB2FF-863A-4EDF-2C2A-8C6595B2F4DB}"/>
              </a:ext>
            </a:extLst>
          </p:cNvPr>
          <p:cNvSpPr/>
          <p:nvPr/>
        </p:nvSpPr>
        <p:spPr>
          <a:xfrm>
            <a:off x="108955" y="892492"/>
            <a:ext cx="446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📃</a:t>
            </a: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설명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24CE15-9899-1F65-4413-8D406BA2D1DE}"/>
              </a:ext>
            </a:extLst>
          </p:cNvPr>
          <p:cNvSpPr/>
          <p:nvPr/>
        </p:nvSpPr>
        <p:spPr>
          <a:xfrm>
            <a:off x="157659" y="1178242"/>
            <a:ext cx="4459388" cy="799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목록 페이지에서 상품 영역을 클릭하면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상품 상세 페이지로 이동됨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상품 상세 페이지는 상단에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상품 </a:t>
            </a:r>
            <a:r>
              <a:rPr lang="ko-KR" altLang="en-US" sz="900" dirty="0" err="1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메인이미지와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설명이 적혀 있고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하단에는 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‘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상품정보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’, ‘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이용후기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’, ‘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상품문의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’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탭이 존재함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A548A6E1-0472-0972-38D0-F3EF384EAF63}"/>
              </a:ext>
            </a:extLst>
          </p:cNvPr>
          <p:cNvSpPr/>
          <p:nvPr/>
        </p:nvSpPr>
        <p:spPr>
          <a:xfrm>
            <a:off x="66457" y="2330256"/>
            <a:ext cx="4546193" cy="667224"/>
          </a:xfrm>
          <a:prstGeom prst="roundRect">
            <a:avLst>
              <a:gd name="adj" fmla="val 74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C2A28EB9-D33B-450F-E716-0187AAAE94C7}"/>
              </a:ext>
            </a:extLst>
          </p:cNvPr>
          <p:cNvSpPr/>
          <p:nvPr/>
        </p:nvSpPr>
        <p:spPr>
          <a:xfrm>
            <a:off x="89904" y="2330256"/>
            <a:ext cx="0" cy="667224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DC80C59E-53C8-8787-D5FC-2BF35C229DF3}"/>
              </a:ext>
            </a:extLst>
          </p:cNvPr>
          <p:cNvSpPr/>
          <p:nvPr/>
        </p:nvSpPr>
        <p:spPr>
          <a:xfrm>
            <a:off x="108954" y="2330256"/>
            <a:ext cx="446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5F6A1AD8-E8DC-EE5F-081A-8044F9FC5C6C}"/>
              </a:ext>
            </a:extLst>
          </p:cNvPr>
          <p:cNvSpPr/>
          <p:nvPr/>
        </p:nvSpPr>
        <p:spPr>
          <a:xfrm>
            <a:off x="115306" y="2683570"/>
            <a:ext cx="44612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https://youtu.be/kpr2b_3jrx8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8EDE5D8-8F4E-D840-B35C-949A1D39E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05" y="2365933"/>
            <a:ext cx="210467" cy="148531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1A96B255-3003-68B2-286B-E0F0057314D2}"/>
              </a:ext>
            </a:extLst>
          </p:cNvPr>
          <p:cNvSpPr/>
          <p:nvPr/>
        </p:nvSpPr>
        <p:spPr>
          <a:xfrm>
            <a:off x="331511" y="245094"/>
            <a:ext cx="4509729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상세 페이지</a:t>
            </a:r>
            <a:endParaRPr lang="en-US" sz="28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54D58F7-4E9E-0153-4220-538A327A648D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6">
            <a:extLst>
              <a:ext uri="{FF2B5EF4-FFF2-40B4-BE49-F238E27FC236}">
                <a16:creationId xmlns:a16="http://schemas.microsoft.com/office/drawing/2014/main" id="{5BF6CAFF-2075-420D-B435-724F44F14C74}"/>
              </a:ext>
            </a:extLst>
          </p:cNvPr>
          <p:cNvSpPr txBox="1"/>
          <p:nvPr/>
        </p:nvSpPr>
        <p:spPr>
          <a:xfrm>
            <a:off x="1148515" y="3436509"/>
            <a:ext cx="3230521" cy="334758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Arial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2C9D33C-E305-2069-EDC2-83E4BAAF4D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420" t="1650" r="10059"/>
          <a:stretch/>
        </p:blipFill>
        <p:spPr>
          <a:xfrm>
            <a:off x="4684801" y="467654"/>
            <a:ext cx="3230519" cy="19585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08C4492-CE0A-17AA-7287-40A7459B57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227" r="9416"/>
          <a:stretch/>
        </p:blipFill>
        <p:spPr>
          <a:xfrm>
            <a:off x="5941075" y="719828"/>
            <a:ext cx="3202925" cy="1958510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0D73CC74-9DC5-DF63-E10C-B81E5BDEF2AF}"/>
              </a:ext>
            </a:extLst>
          </p:cNvPr>
          <p:cNvGrpSpPr/>
          <p:nvPr/>
        </p:nvGrpSpPr>
        <p:grpSpPr>
          <a:xfrm>
            <a:off x="89904" y="3214299"/>
            <a:ext cx="2490950" cy="1774996"/>
            <a:chOff x="4929720" y="2224268"/>
            <a:chExt cx="3165628" cy="2255756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9945B800-DFBD-F601-EA8F-131BB05310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6726" t="84892" r="17251"/>
            <a:stretch>
              <a:fillRect/>
            </a:stretch>
          </p:blipFill>
          <p:spPr>
            <a:xfrm>
              <a:off x="4929720" y="2224268"/>
              <a:ext cx="3165628" cy="36037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D35DDBC2-A9F9-EDF6-138E-455DEFB0B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2951" y="2440198"/>
              <a:ext cx="3055256" cy="2039826"/>
            </a:xfrm>
            <a:prstGeom prst="rect">
              <a:avLst/>
            </a:prstGeom>
          </p:spPr>
        </p:pic>
      </p:grpSp>
      <p:pic>
        <p:nvPicPr>
          <p:cNvPr id="42" name="그림 41">
            <a:extLst>
              <a:ext uri="{FF2B5EF4-FFF2-40B4-BE49-F238E27FC236}">
                <a16:creationId xmlns:a16="http://schemas.microsoft.com/office/drawing/2014/main" id="{459DA800-0213-2AC5-10D6-AA424CB7B8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881" y="3208881"/>
            <a:ext cx="2402310" cy="160508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6A3E96B-FE7A-6B6C-09AB-E81F7A2A9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9565" y="3244773"/>
            <a:ext cx="2719733" cy="1533301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6D6CDC5D-97B4-1ECF-0FBA-E0E0A31FAC22}"/>
              </a:ext>
            </a:extLst>
          </p:cNvPr>
          <p:cNvSpPr/>
          <p:nvPr/>
        </p:nvSpPr>
        <p:spPr>
          <a:xfrm>
            <a:off x="4720942" y="1181906"/>
            <a:ext cx="855892" cy="914400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4F23C0A-4363-35C2-C8FC-679D82E0E5EE}"/>
              </a:ext>
            </a:extLst>
          </p:cNvPr>
          <p:cNvSpPr/>
          <p:nvPr/>
        </p:nvSpPr>
        <p:spPr>
          <a:xfrm>
            <a:off x="6252155" y="2365933"/>
            <a:ext cx="2594552" cy="246638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6C5BF5BD-52AD-4B74-53DA-6D8B74D7AAFF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5576834" y="1639106"/>
            <a:ext cx="723226" cy="144650"/>
          </a:xfrm>
          <a:prstGeom prst="bentConnector3">
            <a:avLst>
              <a:gd name="adj1" fmla="val 50000"/>
            </a:avLst>
          </a:prstGeom>
          <a:ln w="19050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CD2D4AA4-F51E-AFD6-96B4-F14C07182C32}"/>
              </a:ext>
            </a:extLst>
          </p:cNvPr>
          <p:cNvCxnSpPr>
            <a:cxnSpLocks/>
            <a:stCxn id="58" idx="1"/>
            <a:endCxn id="77" idx="3"/>
          </p:cNvCxnSpPr>
          <p:nvPr/>
        </p:nvCxnSpPr>
        <p:spPr>
          <a:xfrm rot="10800000" flipV="1">
            <a:off x="1022507" y="2489251"/>
            <a:ext cx="5229649" cy="825865"/>
          </a:xfrm>
          <a:prstGeom prst="bentConnector3">
            <a:avLst>
              <a:gd name="adj1" fmla="val 63523"/>
            </a:avLst>
          </a:prstGeom>
          <a:ln w="19050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FD4AF29-3741-8B7F-A873-745CC07F56D0}"/>
              </a:ext>
            </a:extLst>
          </p:cNvPr>
          <p:cNvSpPr/>
          <p:nvPr/>
        </p:nvSpPr>
        <p:spPr>
          <a:xfrm>
            <a:off x="108954" y="3191798"/>
            <a:ext cx="913552" cy="246638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5C804580-611C-4C4A-E129-D1E0C6734D5B}"/>
              </a:ext>
            </a:extLst>
          </p:cNvPr>
          <p:cNvCxnSpPr>
            <a:cxnSpLocks/>
            <a:stCxn id="58" idx="2"/>
            <a:endCxn id="83" idx="0"/>
          </p:cNvCxnSpPr>
          <p:nvPr/>
        </p:nvCxnSpPr>
        <p:spPr>
          <a:xfrm rot="5400000">
            <a:off x="5672091" y="1299205"/>
            <a:ext cx="563975" cy="3190707"/>
          </a:xfrm>
          <a:prstGeom prst="bentConnector3">
            <a:avLst>
              <a:gd name="adj1" fmla="val 50000"/>
            </a:avLst>
          </a:prstGeom>
          <a:ln w="19050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BE504B1-010A-4BDB-8A26-35BBEA104752}"/>
              </a:ext>
            </a:extLst>
          </p:cNvPr>
          <p:cNvSpPr/>
          <p:nvPr/>
        </p:nvSpPr>
        <p:spPr>
          <a:xfrm>
            <a:off x="3901948" y="3176546"/>
            <a:ext cx="913552" cy="246638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2AF5067-97C3-3776-9FC4-D78B7C14604E}"/>
              </a:ext>
            </a:extLst>
          </p:cNvPr>
          <p:cNvSpPr/>
          <p:nvPr/>
        </p:nvSpPr>
        <p:spPr>
          <a:xfrm>
            <a:off x="7995485" y="3194378"/>
            <a:ext cx="913552" cy="246638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A6B4475E-E6E9-BD08-B56D-1E12D9CC2F9D}"/>
              </a:ext>
            </a:extLst>
          </p:cNvPr>
          <p:cNvCxnSpPr>
            <a:cxnSpLocks/>
            <a:stCxn id="58" idx="3"/>
            <a:endCxn id="84" idx="0"/>
          </p:cNvCxnSpPr>
          <p:nvPr/>
        </p:nvCxnSpPr>
        <p:spPr>
          <a:xfrm flipH="1">
            <a:off x="8452261" y="2489252"/>
            <a:ext cx="394446" cy="705126"/>
          </a:xfrm>
          <a:prstGeom prst="bentConnector4">
            <a:avLst>
              <a:gd name="adj1" fmla="val -57955"/>
              <a:gd name="adj2" fmla="val 58744"/>
            </a:avLst>
          </a:prstGeom>
          <a:ln w="19050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4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843265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데이터 전달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76250" y="1186165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useOutletContext를 활용한 상세 페이지 데이터 공유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6249" y="1634336"/>
            <a:ext cx="4870449" cy="582811"/>
          </a:xfrm>
          <a:prstGeom prst="roundRect">
            <a:avLst>
              <a:gd name="adj" fmla="val 130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634336"/>
            <a:ext cx="0" cy="582811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634336"/>
            <a:ext cx="3943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4349" y="1958186"/>
            <a:ext cx="4832347" cy="180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상세 페이지의 상단 정보와 하단 탭이 동일 데이터 필요. useOutletContext로 데이터 공유</a:t>
            </a:r>
            <a:endParaRPr lang="en-US" sz="900" dirty="0">
              <a:solidFill>
                <a:srgbClr val="2C3E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6249" y="2293347"/>
            <a:ext cx="4870449" cy="466725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2293347"/>
            <a:ext cx="0" cy="466725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2293347"/>
            <a:ext cx="3943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구현 내용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4350" y="2560047"/>
            <a:ext cx="387984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useOutletContext 활용, 부모에서 자식으로 </a:t>
            </a:r>
            <a:r>
              <a:rPr 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</a:t>
            </a:r>
            <a:endParaRPr lang="en-US" sz="900" dirty="0">
              <a:solidFill>
                <a:srgbClr val="2C3E5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249" y="2829228"/>
            <a:ext cx="4870449" cy="1011436"/>
          </a:xfrm>
          <a:prstGeom prst="roundRect">
            <a:avLst>
              <a:gd name="adj" fmla="val 75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5300" y="2829228"/>
            <a:ext cx="0" cy="10114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2829228"/>
            <a:ext cx="3943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문제 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" y="3114977"/>
            <a:ext cx="3943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350" y="3305478"/>
            <a:ext cx="394334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탭마다 API 재호출로 불필요한 네트워크 요청 발생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" y="3511157"/>
            <a:ext cx="3943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3692133"/>
            <a:ext cx="3943349" cy="142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useOutletContext로 데이터 한 번만 조회 후 공유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249" y="3916863"/>
            <a:ext cx="4870449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5300" y="3916863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3916863"/>
            <a:ext cx="3943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결과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" y="4202615"/>
            <a:ext cx="3943348" cy="14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 최소화, 페이지 전환 속도 개선, Context API 활용 경험</a:t>
            </a:r>
            <a:endParaRPr lang="en-US" sz="900" dirty="0">
              <a:solidFill>
                <a:srgbClr val="2C3E5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65556" y="2868593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화면 구현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65557" y="110629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코드</a:t>
            </a:r>
            <a:endParaRPr lang="en-US" sz="9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950CC76-0BCA-472F-AB17-336DB067F878}"/>
              </a:ext>
            </a:extLst>
          </p:cNvPr>
          <p:cNvSpPr/>
          <p:nvPr/>
        </p:nvSpPr>
        <p:spPr>
          <a:xfrm>
            <a:off x="476249" y="4383589"/>
            <a:ext cx="4870450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B4D0F43F-53B8-4F4C-BBA7-637424C4412D}"/>
              </a:ext>
            </a:extLst>
          </p:cNvPr>
          <p:cNvSpPr/>
          <p:nvPr/>
        </p:nvSpPr>
        <p:spPr>
          <a:xfrm>
            <a:off x="495300" y="4383589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850E99AD-12FD-44F8-ABC4-D09E8DFD6AA1}"/>
              </a:ext>
            </a:extLst>
          </p:cNvPr>
          <p:cNvSpPr/>
          <p:nvPr/>
        </p:nvSpPr>
        <p:spPr>
          <a:xfrm>
            <a:off x="514350" y="4396289"/>
            <a:ext cx="3936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FA85FA9B-11CC-424F-85FB-6FC6323D509C}"/>
              </a:ext>
            </a:extLst>
          </p:cNvPr>
          <p:cNvSpPr/>
          <p:nvPr/>
        </p:nvSpPr>
        <p:spPr>
          <a:xfrm>
            <a:off x="520701" y="4664773"/>
            <a:ext cx="4825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https://sticky-chill-dd2.notion.site/9-277342983be380b69396dc2a30378c5b?source=copy_link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56808DB5-AAB5-4393-9EC0-A5DF20C99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1" y="4418316"/>
            <a:ext cx="189642" cy="18964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F555B74-CA50-4B88-8DE6-FBC38B1B76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584"/>
          <a:stretch/>
        </p:blipFill>
        <p:spPr>
          <a:xfrm>
            <a:off x="5530853" y="281898"/>
            <a:ext cx="3505098" cy="250327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3266F58E-19C2-4E87-B087-F77A5EA17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8735" y="3020994"/>
            <a:ext cx="3071927" cy="2050956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C1D7E434-9FF1-B00F-5AE9-72D069839AFF}"/>
              </a:ext>
            </a:extLst>
          </p:cNvPr>
          <p:cNvSpPr/>
          <p:nvPr/>
        </p:nvSpPr>
        <p:spPr>
          <a:xfrm>
            <a:off x="331511" y="245094"/>
            <a:ext cx="4509729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상품 상세 페이지</a:t>
            </a:r>
            <a:endParaRPr lang="en-US" sz="2800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BBCB1DF-3F8B-CA3E-D654-655CBCC54640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74D9-2A3E-3093-B79F-E7F4C776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E5B52D6-B424-8504-69B0-3F2920A8E114}"/>
              </a:ext>
            </a:extLst>
          </p:cNvPr>
          <p:cNvSpPr/>
          <p:nvPr/>
        </p:nvSpPr>
        <p:spPr>
          <a:xfrm>
            <a:off x="70854" y="892492"/>
            <a:ext cx="3559719" cy="1301172"/>
          </a:xfrm>
          <a:prstGeom prst="roundRect">
            <a:avLst>
              <a:gd name="adj" fmla="val 49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4BDF3D-E157-74B0-F5EF-E4D79C2C91AA}"/>
              </a:ext>
            </a:extLst>
          </p:cNvPr>
          <p:cNvSpPr/>
          <p:nvPr/>
        </p:nvSpPr>
        <p:spPr>
          <a:xfrm>
            <a:off x="89904" y="892492"/>
            <a:ext cx="0" cy="130117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E98119-6B3E-F06B-3D51-1A34A3CF6F22}"/>
              </a:ext>
            </a:extLst>
          </p:cNvPr>
          <p:cNvSpPr/>
          <p:nvPr/>
        </p:nvSpPr>
        <p:spPr>
          <a:xfrm>
            <a:off x="108955" y="892492"/>
            <a:ext cx="446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📃</a:t>
            </a: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설명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57D5AE-3947-F134-15A1-5A11C179C054}"/>
              </a:ext>
            </a:extLst>
          </p:cNvPr>
          <p:cNvSpPr/>
          <p:nvPr/>
        </p:nvSpPr>
        <p:spPr>
          <a:xfrm>
            <a:off x="157659" y="1178242"/>
            <a:ext cx="3432373" cy="799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축사데이터는 온도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습도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조도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공기질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데이터가 출력됨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축사 데이터 화면에서는 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1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주전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~4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주전 데이터를 확인할 수 있음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데이터는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최고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최저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평균 데이터가 출력됨</a:t>
            </a:r>
            <a:endParaRPr lang="en-US" altLang="ko-KR" sz="9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C9944E6D-9500-D9E9-5565-F7B688133A4C}"/>
              </a:ext>
            </a:extLst>
          </p:cNvPr>
          <p:cNvSpPr/>
          <p:nvPr/>
        </p:nvSpPr>
        <p:spPr>
          <a:xfrm>
            <a:off x="66458" y="2330256"/>
            <a:ext cx="3559720" cy="667224"/>
          </a:xfrm>
          <a:prstGeom prst="roundRect">
            <a:avLst>
              <a:gd name="adj" fmla="val 74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24E51AAB-02BD-35E2-4906-9196B2894DD2}"/>
              </a:ext>
            </a:extLst>
          </p:cNvPr>
          <p:cNvSpPr/>
          <p:nvPr/>
        </p:nvSpPr>
        <p:spPr>
          <a:xfrm>
            <a:off x="89904" y="2330256"/>
            <a:ext cx="0" cy="667224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E65AF5A1-FBC2-1F43-1966-5474EC738B2D}"/>
              </a:ext>
            </a:extLst>
          </p:cNvPr>
          <p:cNvSpPr/>
          <p:nvPr/>
        </p:nvSpPr>
        <p:spPr>
          <a:xfrm>
            <a:off x="108954" y="2330256"/>
            <a:ext cx="446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4509FDA9-20F3-8CC5-C1E8-256F347CDBFF}"/>
              </a:ext>
            </a:extLst>
          </p:cNvPr>
          <p:cNvSpPr/>
          <p:nvPr/>
        </p:nvSpPr>
        <p:spPr>
          <a:xfrm>
            <a:off x="115306" y="2683570"/>
            <a:ext cx="34747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https://youtu.be/DG-MDDfSU40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3F581A9-C39D-2C60-2260-B45889A97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05" y="2365933"/>
            <a:ext cx="210467" cy="148531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5CCF2E70-87CD-24C1-9C9D-E0937B745AC3}"/>
              </a:ext>
            </a:extLst>
          </p:cNvPr>
          <p:cNvSpPr/>
          <p:nvPr/>
        </p:nvSpPr>
        <p:spPr>
          <a:xfrm>
            <a:off x="331511" y="245094"/>
            <a:ext cx="3168434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관리자 차트 페이지</a:t>
            </a:r>
            <a:endParaRPr lang="en-US" sz="28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F3F1134-E4B6-2133-F82A-D334724895FF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5EEFD296-F771-2905-D7CD-E26F0C47D6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926" y="1859378"/>
            <a:ext cx="5086422" cy="31539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981A59-48AF-12C8-074C-98E6AA4CE9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980"/>
          <a:stretch>
            <a:fillRect/>
          </a:stretch>
        </p:blipFill>
        <p:spPr>
          <a:xfrm>
            <a:off x="298546" y="3576520"/>
            <a:ext cx="1547772" cy="146948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E5C58CD-1C52-1382-12DD-C409BD273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596" y="1138166"/>
            <a:ext cx="858967" cy="70611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7617AED-1823-EDD0-5DBA-9DDD20E136ED}"/>
              </a:ext>
            </a:extLst>
          </p:cNvPr>
          <p:cNvSpPr txBox="1"/>
          <p:nvPr/>
        </p:nvSpPr>
        <p:spPr>
          <a:xfrm>
            <a:off x="256253" y="3323279"/>
            <a:ext cx="1802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관리자 페이지 사이드 메뉴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FF88B2CE-8ADE-3B41-384A-1163F9D611B4}"/>
              </a:ext>
            </a:extLst>
          </p:cNvPr>
          <p:cNvCxnSpPr>
            <a:cxnSpLocks/>
            <a:endCxn id="40" idx="3"/>
          </p:cNvCxnSpPr>
          <p:nvPr/>
        </p:nvCxnSpPr>
        <p:spPr>
          <a:xfrm rot="16200000" flipV="1">
            <a:off x="7769223" y="1512565"/>
            <a:ext cx="571806" cy="529126"/>
          </a:xfrm>
          <a:prstGeom prst="bentConnector2">
            <a:avLst/>
          </a:prstGeom>
          <a:ln w="19050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66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757681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차트 구성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76250" y="1100581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기간별 온도 데이터 시각화 및 통계 정보 표시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6249" y="1366986"/>
            <a:ext cx="4914899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366986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366986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4350" y="1652736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기간별 온도 변화를 Chart.js로 시각화, 최고/평균/</a:t>
            </a:r>
            <a:r>
              <a:rPr 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공기질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표시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49" y="1877467"/>
            <a:ext cx="4914899" cy="434280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1877467"/>
            <a:ext cx="0" cy="43428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1877467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구현 내용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4350" y="2163217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Line Chart 활용, 1-4주 기간 선택 기능, 통계 데이터 계산 및 표시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6249" y="2387947"/>
            <a:ext cx="4914899" cy="1011436"/>
          </a:xfrm>
          <a:prstGeom prst="roundRect">
            <a:avLst>
              <a:gd name="adj" fmla="val 75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5300" y="2387947"/>
            <a:ext cx="0" cy="10114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2387947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문제 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" y="2673697"/>
            <a:ext cx="474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350" y="2864197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조도 데이터 조회 시 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 누락으로 날짜 구분 없이 동일한 값만 반복 조회됨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" y="3069878"/>
            <a:ext cx="474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3250853"/>
            <a:ext cx="47411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절로 </a:t>
            </a:r>
            <a:r>
              <a:rPr lang="ko-KR" altLang="en-US" sz="9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필터링 추가</a:t>
            </a:r>
            <a:r>
              <a:rPr lang="en-US" altLang="ko-KR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ORDER BY</a:t>
            </a:r>
            <a:r>
              <a:rPr lang="ko-KR" alt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정렬하여 기간별 정확한 데이터 표시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249" y="3475582"/>
            <a:ext cx="4914899" cy="647151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5300" y="3475582"/>
            <a:ext cx="0" cy="647151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3475583"/>
            <a:ext cx="474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결과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" y="3761332"/>
            <a:ext cx="4741164" cy="31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1~4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데이터 비교와 통계 자동 계산을 통해 센서 상태를 빠르게 파악할 수 있도록 하고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최저값을</a:t>
            </a:r>
            <a:r>
              <a:rPr lang="ko-KR" alt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시각적으로 구분해 확인 속도를 더욱 높임</a:t>
            </a:r>
            <a:r>
              <a:rPr lang="en-US" altLang="ko-KR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34078" y="2176809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화면 구현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4079" y="137740"/>
            <a:ext cx="835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코드</a:t>
            </a:r>
            <a:endParaRPr lang="en-US" sz="9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B3687EF-16BA-49A0-A815-91F76DD422F2}"/>
              </a:ext>
            </a:extLst>
          </p:cNvPr>
          <p:cNvSpPr/>
          <p:nvPr/>
        </p:nvSpPr>
        <p:spPr>
          <a:xfrm>
            <a:off x="476249" y="4197897"/>
            <a:ext cx="4914899" cy="647152"/>
          </a:xfrm>
          <a:prstGeom prst="roundRect">
            <a:avLst>
              <a:gd name="adj" fmla="val 1754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06638223-7624-4FE1-8567-98B8C42639F5}"/>
              </a:ext>
            </a:extLst>
          </p:cNvPr>
          <p:cNvSpPr/>
          <p:nvPr/>
        </p:nvSpPr>
        <p:spPr>
          <a:xfrm>
            <a:off x="495301" y="4197897"/>
            <a:ext cx="0" cy="64715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82B41179-B4D1-44FA-B761-2A005541C1C7}"/>
              </a:ext>
            </a:extLst>
          </p:cNvPr>
          <p:cNvSpPr/>
          <p:nvPr/>
        </p:nvSpPr>
        <p:spPr>
          <a:xfrm>
            <a:off x="514351" y="4210597"/>
            <a:ext cx="3936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ko-KR" alt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2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27E3ECB-C86D-4D8E-87BB-AEFDA76A5243}"/>
              </a:ext>
            </a:extLst>
          </p:cNvPr>
          <p:cNvSpPr/>
          <p:nvPr/>
        </p:nvSpPr>
        <p:spPr>
          <a:xfrm>
            <a:off x="520702" y="4479080"/>
            <a:ext cx="4825997" cy="365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hlinkClick r:id="rId3"/>
              </a:rPr>
              <a:t>https://sticky-chill-dd2.notion.site/17-288342983be381bfaef5fc099e5c6197?source=copy_link</a:t>
            </a:r>
            <a:endParaRPr lang="en-US" sz="900" dirty="0">
              <a:solidFill>
                <a:srgbClr val="2C3E5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https://sticky-chill-dd2.notion.site/18-28d342983be380119aeede978dc4e642?source=copy_link</a:t>
            </a:r>
            <a:r>
              <a:rPr lang="en-US" sz="9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EC6CE7C-6785-4636-A6F1-7C0B06013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2" y="4232624"/>
            <a:ext cx="189642" cy="18964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FE1BC87-7D60-47F0-90CE-3829DBBF2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765" y="312982"/>
            <a:ext cx="3507837" cy="1731717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B9507F8-266D-4602-9988-760F8744A5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576" y="2389684"/>
            <a:ext cx="3493387" cy="2440834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00340FD9-EBEC-D4F1-67B2-BAC6F008D0CA}"/>
              </a:ext>
            </a:extLst>
          </p:cNvPr>
          <p:cNvSpPr/>
          <p:nvPr/>
        </p:nvSpPr>
        <p:spPr>
          <a:xfrm>
            <a:off x="331511" y="245094"/>
            <a:ext cx="3168434" cy="490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2800" b="1" dirty="0">
                <a:solidFill>
                  <a:srgbClr val="388E3C"/>
                </a:solidFill>
                <a:latin typeface="Arial" pitchFamily="34" charset="0"/>
                <a:cs typeface="Arial" pitchFamily="34" charset="-120"/>
              </a:rPr>
              <a:t>관리자 차트 페이지</a:t>
            </a:r>
            <a:endParaRPr lang="en-US" sz="28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1DF2872-AEEF-2720-E015-798B74F41013}"/>
              </a:ext>
            </a:extLst>
          </p:cNvPr>
          <p:cNvCxnSpPr>
            <a:cxnSpLocks/>
          </p:cNvCxnSpPr>
          <p:nvPr/>
        </p:nvCxnSpPr>
        <p:spPr>
          <a:xfrm>
            <a:off x="327116" y="154205"/>
            <a:ext cx="3920562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9192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앞으로의 목표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881914"/>
            <a:ext cx="8001000" cy="1790700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" y="2034314"/>
            <a:ext cx="76962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복습 중심의 학습 습관을 유지하겠습니다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이해가 어려운 부분은 Notion에 정리하고, 스스로 해결하며 익히겠습니다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자료를 통해 부족한 부분을 보완하겠습니다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단순히 기능 구현을 넘어, 문제의 원인을 분석하고 개선하는 개발자가 되겠습니다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꾸준함과 기록을 바탕으로, 팀과 함께 성장하는 개발자로 발전하겠습니다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1500" y="1562100"/>
            <a:ext cx="8001000" cy="1790700"/>
          </a:xfrm>
          <a:prstGeom prst="roundRect">
            <a:avLst>
              <a:gd name="adj" fmla="val 638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1490" y="2228850"/>
            <a:ext cx="8161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095750" y="2762250"/>
            <a:ext cx="952500" cy="28575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1029</Words>
  <Application>Microsoft Office PowerPoint</Application>
  <PresentationFormat>화면 슬라이드 쇼(16:9)</PresentationFormat>
  <Paragraphs>179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이근형 개발자 포트폴리오</dc:title>
  <dc:subject>Web Developer Portfolio - Smart Farm IoT Project</dc:subject>
  <dc:creator>이근형</dc:creator>
  <cp:lastModifiedBy>Geunhyeong Lee</cp:lastModifiedBy>
  <cp:revision>13</cp:revision>
  <dcterms:created xsi:type="dcterms:W3CDTF">2025-11-18T05:45:48Z</dcterms:created>
  <dcterms:modified xsi:type="dcterms:W3CDTF">2025-11-24T13:32:51Z</dcterms:modified>
</cp:coreProperties>
</file>